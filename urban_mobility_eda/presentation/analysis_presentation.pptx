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1" r:id="rId2"/>
    <p:sldId id="265" r:id="rId3"/>
    <p:sldId id="267" r:id="rId4"/>
    <p:sldId id="269" r:id="rId5"/>
    <p:sldId id="271" r:id="rId6"/>
    <p:sldId id="256" r:id="rId7"/>
    <p:sldId id="258" r:id="rId8"/>
    <p:sldId id="273" r:id="rId9"/>
    <p:sldId id="260" r:id="rId10"/>
    <p:sldId id="262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40C"/>
    <a:srgbClr val="091522"/>
    <a:srgbClr val="252321"/>
    <a:srgbClr val="00AF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583"/>
    <p:restoredTop sz="94610"/>
  </p:normalViewPr>
  <p:slideViewPr>
    <p:cSldViewPr snapToGrid="0" snapToObjects="1">
      <p:cViewPr varScale="1">
        <p:scale>
          <a:sx n="134" d="100"/>
          <a:sy n="134" d="100"/>
        </p:scale>
        <p:origin x="20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068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8000">
              <a:srgbClr val="EDF1F9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51435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51435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E6A9D8-501F-D490-BA91-5BE2F0ACDDC2}"/>
              </a:ext>
            </a:extLst>
          </p:cNvPr>
          <p:cNvSpPr txBox="1"/>
          <p:nvPr/>
        </p:nvSpPr>
        <p:spPr>
          <a:xfrm>
            <a:off x="1143002" y="1499711"/>
            <a:ext cx="6858000" cy="2073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rgbClr val="7030A0"/>
                </a:solidFill>
                <a:ea typeface="+mj-ea"/>
                <a:cs typeface="+mj-cs"/>
              </a:rPr>
              <a:t>CITY CAR SHARING ANALYTICS</a:t>
            </a:r>
          </a:p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400" b="1" kern="1200" dirty="0">
                <a:solidFill>
                  <a:srgbClr val="00AFA0"/>
                </a:solidFill>
                <a:ea typeface="+mj-ea"/>
                <a:cs typeface="+mj-cs"/>
              </a:rPr>
              <a:t>Tech Test</a:t>
            </a:r>
            <a:endParaRPr lang="en-US" sz="1400" kern="1200" dirty="0">
              <a:solidFill>
                <a:srgbClr val="00AFA0"/>
              </a:solidFill>
              <a:ea typeface="+mj-ea"/>
              <a:cs typeface="+mj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4143589"/>
            <a:ext cx="3566160" cy="205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04F0B-6F2C-0F5E-41DD-E6FC68DF9401}"/>
              </a:ext>
            </a:extLst>
          </p:cNvPr>
          <p:cNvSpPr txBox="1"/>
          <p:nvPr/>
        </p:nvSpPr>
        <p:spPr>
          <a:xfrm>
            <a:off x="3497179" y="3704272"/>
            <a:ext cx="2006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/>
              <a:t>Mary Sheeba THEODORE</a:t>
            </a:r>
          </a:p>
        </p:txBody>
      </p:sp>
    </p:spTree>
    <p:extLst>
      <p:ext uri="{BB962C8B-B14F-4D97-AF65-F5344CB8AC3E}">
        <p14:creationId xmlns:p14="http://schemas.microsoft.com/office/powerpoint/2010/main" val="2016484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A9396"/>
                </a:solidFill>
              </a:rPr>
              <a:t>UNDERSTANDING THE BUSINESS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</a:rPr>
              <a:t>The World of Electric Mobility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1124712"/>
            <a:ext cx="3931920" cy="2011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" name="Text 3"/>
          <p:cNvSpPr/>
          <p:nvPr/>
        </p:nvSpPr>
        <p:spPr>
          <a:xfrm>
            <a:off x="548640" y="1261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D2BD"/>
                </a:solidFill>
              </a:rPr>
              <a:t> What is Free2Move?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664208"/>
            <a:ext cx="3566160" cy="1490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Free-floating car-sharing service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Cars scattered across the city: no fixed stations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Customers find nearest car on app → unlock → drive → park anywhere</a:t>
            </a:r>
          </a:p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Flexible pricing: /min, /</a:t>
            </a:r>
            <a:r>
              <a:rPr lang="en-US" sz="1000" dirty="0" err="1">
                <a:solidFill>
                  <a:srgbClr val="FFFFFF"/>
                </a:solidFill>
              </a:rPr>
              <a:t>hr</a:t>
            </a:r>
            <a:r>
              <a:rPr lang="en-US" sz="1000" dirty="0">
                <a:solidFill>
                  <a:srgbClr val="FFFFFF"/>
                </a:solidFill>
              </a:rPr>
              <a:t>, /days</a:t>
            </a:r>
          </a:p>
          <a:p>
            <a:pPr>
              <a:spcAft>
                <a:spcPts val="400"/>
              </a:spcAft>
              <a:buSzPct val="100000"/>
            </a:pPr>
            <a:endParaRPr lang="en-US" sz="1000" dirty="0">
              <a:solidFill>
                <a:srgbClr val="FFFFFF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3218688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R" dirty="0"/>
          </a:p>
        </p:txBody>
      </p:sp>
      <p:sp>
        <p:nvSpPr>
          <p:cNvPr id="9" name="Text 6"/>
          <p:cNvSpPr/>
          <p:nvPr/>
        </p:nvSpPr>
        <p:spPr>
          <a:xfrm>
            <a:off x="548640" y="3337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 The Fleet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3730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57D"/>
                </a:solidFill>
              </a:rPr>
              <a:t>Vehicles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920240" y="3730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52 electric cars · 1 model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4360" y="4050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57D"/>
                </a:solidFill>
              </a:rPr>
              <a:t>Rentals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920240" y="40507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45,686 over 9 months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94360" y="43708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57D"/>
                </a:solidFill>
              </a:rPr>
              <a:t>Median trip duration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920240" y="43708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16 minutes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0" y="1115568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7" name="Text 14"/>
          <p:cNvSpPr/>
          <p:nvPr/>
        </p:nvSpPr>
        <p:spPr>
          <a:xfrm>
            <a:off x="4754880" y="12618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  The Two Players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709160" y="1645920"/>
            <a:ext cx="1828800" cy="1051560"/>
          </a:xfrm>
          <a:prstGeom prst="rect">
            <a:avLst/>
          </a:prstGeom>
          <a:solidFill>
            <a:srgbClr val="0A9396">
              <a:alpha val="12000"/>
            </a:srgbClr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4800600" y="17190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9396"/>
                </a:solidFill>
              </a:rPr>
              <a:t> Customers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00600" y="197510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529"/>
                </a:solidFill>
              </a:rPr>
              <a:t>87.4% of rentals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529"/>
                </a:solidFill>
              </a:rPr>
              <a:t>Spontaneous short trips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766560" y="1645920"/>
            <a:ext cx="1828800" cy="1051560"/>
          </a:xfrm>
          <a:prstGeom prst="rect">
            <a:avLst/>
          </a:prstGeom>
          <a:solidFill>
            <a:srgbClr val="E9724C">
              <a:alpha val="12000"/>
            </a:srgbClr>
          </a:solidFill>
          <a:ln w="12700">
            <a:solidFill>
              <a:srgbClr val="E9724C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6858000" y="17190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9724C"/>
                </a:solidFill>
              </a:rPr>
              <a:t>Service Agents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58000" y="197510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529"/>
                </a:solidFill>
              </a:rPr>
              <a:t>12.6% of rentals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529"/>
                </a:solidFill>
              </a:rPr>
              <a:t>Manage fleet operations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572000" y="2944368"/>
            <a:ext cx="4206240" cy="1737360"/>
          </a:xfrm>
          <a:prstGeom prst="rect">
            <a:avLst/>
          </a:prstGeom>
          <a:solidFill>
            <a:srgbClr val="E9724C"/>
          </a:solidFill>
          <a:ln w="12700">
            <a:solidFill>
              <a:srgbClr val="E972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4754880" y="30723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 The Challenge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754880" y="3438144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Electric cars need charging : agents rescue dead cars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Charging stations charge overstay fees after 100%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Agents must balance rescuing dead cars vs moving full ones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Every unnecessary dispatch = operational cost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A9396"/>
                </a:solidFill>
              </a:rPr>
              <a:t>DATA QUALITY &amp;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</a:rPr>
              <a:t>How We Prepared &amp; Approached the Analysis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1115568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365760" y="1115568"/>
            <a:ext cx="3931920" cy="73152"/>
          </a:xfrm>
          <a:prstGeom prst="rect">
            <a:avLst/>
          </a:prstGeom>
          <a:solidFill>
            <a:srgbClr val="E9724C"/>
          </a:solidFill>
          <a:ln w="12700">
            <a:solidFill>
              <a:srgbClr val="E9724C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Text 4"/>
          <p:cNvSpPr/>
          <p:nvPr/>
        </p:nvSpPr>
        <p:spPr>
          <a:xfrm>
            <a:off x="548640" y="1261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Data Quality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719072"/>
            <a:ext cx="548640" cy="320040"/>
          </a:xfrm>
          <a:prstGeom prst="rect">
            <a:avLst/>
          </a:prstGeom>
          <a:solidFill>
            <a:srgbClr val="E9724C">
              <a:alpha val="15000"/>
            </a:srgbClr>
          </a:solidFill>
          <a:ln w="12700">
            <a:solidFill>
              <a:srgbClr val="E9724C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Text 6"/>
          <p:cNvSpPr/>
          <p:nvPr/>
        </p:nvSpPr>
        <p:spPr>
          <a:xfrm>
            <a:off x="457200" y="1755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724C"/>
                </a:solidFill>
              </a:rPr>
              <a:t>218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97280" y="17556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529"/>
                </a:solidFill>
              </a:rPr>
              <a:t>exact duplicates dropped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2194560"/>
            <a:ext cx="548640" cy="320040"/>
          </a:xfrm>
          <a:prstGeom prst="rect">
            <a:avLst/>
          </a:prstGeom>
          <a:solidFill>
            <a:srgbClr val="E9724C">
              <a:alpha val="15000"/>
            </a:srgbClr>
          </a:solidFill>
          <a:ln w="12700">
            <a:solidFill>
              <a:srgbClr val="E9724C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Text 9"/>
          <p:cNvSpPr/>
          <p:nvPr/>
        </p:nvSpPr>
        <p:spPr>
          <a:xfrm>
            <a:off x="457200" y="22311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724C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97280" y="22311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529"/>
                </a:solidFill>
              </a:rPr>
              <a:t>conflicting records dropped (CHARGED flag disagreed)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2670048"/>
            <a:ext cx="548640" cy="320040"/>
          </a:xfrm>
          <a:prstGeom prst="rect">
            <a:avLst/>
          </a:prstGeom>
          <a:solidFill>
            <a:srgbClr val="E9724C">
              <a:alpha val="15000"/>
            </a:srgbClr>
          </a:solidFill>
          <a:ln w="12700">
            <a:solidFill>
              <a:srgbClr val="E9724C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Text 12"/>
          <p:cNvSpPr/>
          <p:nvPr/>
        </p:nvSpPr>
        <p:spPr>
          <a:xfrm>
            <a:off x="457200" y="27066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724C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" y="27066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529"/>
                </a:solidFill>
              </a:rPr>
              <a:t>negative durations dropped (DST error)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3145536"/>
            <a:ext cx="548640" cy="320040"/>
          </a:xfrm>
          <a:prstGeom prst="rect">
            <a:avLst/>
          </a:prstGeom>
          <a:solidFill>
            <a:srgbClr val="0A9396">
              <a:alpha val="15000"/>
            </a:srgbClr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Text 15"/>
          <p:cNvSpPr/>
          <p:nvPr/>
        </p:nvSpPr>
        <p:spPr>
          <a:xfrm>
            <a:off x="457200" y="31821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9396"/>
                </a:solidFill>
              </a:rPr>
              <a:t>808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97280" y="31821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529"/>
                </a:solidFill>
              </a:rPr>
              <a:t>short rentals (&lt;1 min) flagged:  kept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3621024"/>
            <a:ext cx="548640" cy="320040"/>
          </a:xfrm>
          <a:prstGeom prst="rect">
            <a:avLst/>
          </a:prstGeom>
          <a:solidFill>
            <a:srgbClr val="0A9396">
              <a:alpha val="15000"/>
            </a:srgbClr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1" name="Text 18"/>
          <p:cNvSpPr/>
          <p:nvPr/>
        </p:nvSpPr>
        <p:spPr>
          <a:xfrm>
            <a:off x="457200" y="3657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9396"/>
                </a:solidFill>
              </a:rPr>
              <a:t>133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" y="3657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529"/>
                </a:solidFill>
              </a:rPr>
              <a:t>long rentals (&gt;24h) flagged : kept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7200" y="4096512"/>
            <a:ext cx="548640" cy="320040"/>
          </a:xfrm>
          <a:prstGeom prst="rect">
            <a:avLst/>
          </a:prstGeom>
          <a:solidFill>
            <a:srgbClr val="0D1B2A">
              <a:alpha val="15000"/>
            </a:srgbClr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457200" y="4133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233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97280" y="41330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529"/>
                </a:solidFill>
              </a:rPr>
              <a:t>total rows removed - only 0.5% of data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72000" y="1115568"/>
            <a:ext cx="420624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7" name="Text 24"/>
          <p:cNvSpPr/>
          <p:nvPr/>
        </p:nvSpPr>
        <p:spPr>
          <a:xfrm>
            <a:off x="4754880" y="12435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D2BD"/>
                </a:solidFill>
              </a:rPr>
              <a:t>Tools Used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54880" y="16276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D2BD"/>
                </a:solidFill>
              </a:rPr>
              <a:t>SQL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172200" y="162763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Initial data exploration &amp; aggregations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754880" y="19293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D2BD"/>
                </a:solidFill>
              </a:rPr>
              <a:t>Python (pandas)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172200" y="192938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Cleaning, EDA, battery analysis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754880" y="22311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D2BD"/>
                </a:solidFill>
              </a:rPr>
              <a:t>Tableau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172200" y="223113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Interactive dashboards &amp; visualisation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572000" y="2670048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5" name="Shape 32"/>
          <p:cNvSpPr/>
          <p:nvPr/>
        </p:nvSpPr>
        <p:spPr>
          <a:xfrm>
            <a:off x="4572000" y="2670048"/>
            <a:ext cx="420624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6" name="Text 33"/>
          <p:cNvSpPr/>
          <p:nvPr/>
        </p:nvSpPr>
        <p:spPr>
          <a:xfrm>
            <a:off x="4754880" y="27980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Analytical Approach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4754880" y="31821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</a:rPr>
              <a:t>1.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074920" y="31821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529"/>
                </a:solidFill>
              </a:rPr>
              <a:t>EDA: usage patterns, rental duration, battery behaviour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4754880" y="35295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</a:rPr>
              <a:t>2.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074920" y="35295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529"/>
                </a:solidFill>
              </a:rPr>
              <a:t>Fleet utilization:  vehicle activity across 9 months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754880" y="38770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</a:rPr>
              <a:t>3.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074920" y="38770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529"/>
                </a:solidFill>
              </a:rPr>
              <a:t>Battery analysis: customer vs service rental charging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4754880" y="42245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</a:rPr>
              <a:t>4.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074920" y="42245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529"/>
                </a:solidFill>
              </a:rPr>
              <a:t>Sequential rental analysis: vehicle timelines via shift() to solve Task 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A9396"/>
                </a:solidFill>
              </a:rPr>
              <a:t>DATA DISCOVERY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</a:rPr>
              <a:t>Two Operations Hidden in the Data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57D"/>
                </a:solidFill>
              </a:rPr>
              <a:t>Not all rentals are equal : the data revealed two completely different operational worlds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" y="1298448"/>
            <a:ext cx="2560320" cy="3200400"/>
          </a:xfrm>
          <a:prstGeom prst="rect">
            <a:avLst/>
          </a:prstGeom>
          <a:solidFill>
            <a:srgbClr val="0A9396">
              <a:alpha val="12000"/>
            </a:srgbClr>
          </a:solidFill>
          <a:ln w="1905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" y="1298448"/>
            <a:ext cx="256032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Text 5"/>
          <p:cNvSpPr/>
          <p:nvPr/>
        </p:nvSpPr>
        <p:spPr>
          <a:xfrm>
            <a:off x="502920" y="14264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</a:rPr>
              <a:t>Customer Rentals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17556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529"/>
                </a:solidFill>
              </a:rPr>
              <a:t>87.4% of all rentals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2084832"/>
            <a:ext cx="2286000" cy="329184"/>
          </a:xfrm>
          <a:prstGeom prst="round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Text 8"/>
          <p:cNvSpPr/>
          <p:nvPr/>
        </p:nvSpPr>
        <p:spPr>
          <a:xfrm>
            <a:off x="502920" y="21305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Pick up car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243230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9396"/>
                </a:solidFill>
              </a:rPr>
              <a:t>↓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2560320"/>
            <a:ext cx="2286000" cy="329184"/>
          </a:xfrm>
          <a:prstGeom prst="round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Text 11"/>
          <p:cNvSpPr/>
          <p:nvPr/>
        </p:nvSpPr>
        <p:spPr>
          <a:xfrm>
            <a:off x="502920" y="2606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Drive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290779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9396"/>
                </a:solidFill>
              </a:rPr>
              <a:t>↓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" y="3035808"/>
            <a:ext cx="2286000" cy="329184"/>
          </a:xfrm>
          <a:prstGeom prst="round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Text 14"/>
          <p:cNvSpPr/>
          <p:nvPr/>
        </p:nvSpPr>
        <p:spPr>
          <a:xfrm>
            <a:off x="502920" y="3081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Return car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292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529"/>
                </a:solidFill>
              </a:rPr>
              <a:t>CHARGELEVELSTART ✅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529"/>
                </a:solidFill>
              </a:rPr>
              <a:t>CHARGELEVELEND ✅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2920" y="39776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A9396"/>
                </a:solidFill>
              </a:rPr>
              <a:t>Both levels recorded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017520" y="2377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757D"/>
                </a:solidFill>
              </a:rPr>
              <a:t>VS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657600" y="1298448"/>
            <a:ext cx="512064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3794760" y="14081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D2BD"/>
                </a:solidFill>
              </a:rPr>
              <a:t> Charging Mission  (CHARGED = True)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794760" y="173736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Agent rescues dead car → drives to charger → plugs in → leaves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794760" y="2048256"/>
            <a:ext cx="155448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3794760" y="21214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D2BD"/>
                </a:solidFill>
              </a:rPr>
              <a:t>2,982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794760" y="23957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Count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486400" y="2048256"/>
            <a:ext cx="155448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8" name="Text 25"/>
          <p:cNvSpPr/>
          <p:nvPr/>
        </p:nvSpPr>
        <p:spPr>
          <a:xfrm>
            <a:off x="5486400" y="21214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D2BD"/>
                </a:solidFill>
              </a:rPr>
              <a:t>16%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486400" y="23957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Median end level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7178040" y="2048256"/>
            <a:ext cx="155448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1" name="Text 28"/>
          <p:cNvSpPr/>
          <p:nvPr/>
        </p:nvSpPr>
        <p:spPr>
          <a:xfrm>
            <a:off x="7178040" y="21214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D2BD"/>
                </a:solidFill>
              </a:rPr>
              <a:t>NULL ❌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178040" y="23957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Start level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3657600" y="2944368"/>
            <a:ext cx="5120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4" name="Shape 31"/>
          <p:cNvSpPr/>
          <p:nvPr/>
        </p:nvSpPr>
        <p:spPr>
          <a:xfrm>
            <a:off x="3657600" y="2944368"/>
            <a:ext cx="5120640" cy="73152"/>
          </a:xfrm>
          <a:prstGeom prst="rect">
            <a:avLst/>
          </a:prstGeom>
          <a:solidFill>
            <a:srgbClr val="E9724C"/>
          </a:solidFill>
          <a:ln w="12700">
            <a:solidFill>
              <a:srgbClr val="E9724C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5" name="Text 32"/>
          <p:cNvSpPr/>
          <p:nvPr/>
        </p:nvSpPr>
        <p:spPr>
          <a:xfrm>
            <a:off x="3794760" y="30723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24C"/>
                </a:solidFill>
              </a:rPr>
              <a:t> Moving Mission  (CHARGED = False)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3794760" y="340156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529"/>
                </a:solidFill>
              </a:rPr>
              <a:t>Agent moves fully charged car away from charger → avoids overstay fees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794760" y="3712464"/>
            <a:ext cx="1554480" cy="640080"/>
          </a:xfrm>
          <a:prstGeom prst="rect">
            <a:avLst/>
          </a:prstGeom>
          <a:solidFill>
            <a:srgbClr val="E9724C">
              <a:alpha val="10000"/>
            </a:srgbClr>
          </a:solidFill>
          <a:ln w="12700">
            <a:solidFill>
              <a:srgbClr val="E9724C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8" name="Text 35"/>
          <p:cNvSpPr/>
          <p:nvPr/>
        </p:nvSpPr>
        <p:spPr>
          <a:xfrm>
            <a:off x="3794760" y="37856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24C"/>
                </a:solidFill>
              </a:rPr>
              <a:t>2,757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3794760" y="40599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12529"/>
                </a:solidFill>
              </a:rPr>
              <a:t>Count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5486400" y="3712464"/>
            <a:ext cx="1554480" cy="640080"/>
          </a:xfrm>
          <a:prstGeom prst="rect">
            <a:avLst/>
          </a:prstGeom>
          <a:solidFill>
            <a:srgbClr val="E9724C">
              <a:alpha val="10000"/>
            </a:srgbClr>
          </a:solidFill>
          <a:ln w="12700">
            <a:solidFill>
              <a:srgbClr val="E9724C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1" name="Text 38"/>
          <p:cNvSpPr/>
          <p:nvPr/>
        </p:nvSpPr>
        <p:spPr>
          <a:xfrm>
            <a:off x="5486400" y="37856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24C"/>
                </a:solidFill>
              </a:rPr>
              <a:t>94%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486400" y="40599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12529"/>
                </a:solidFill>
              </a:rPr>
              <a:t>Median end level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7178040" y="3712464"/>
            <a:ext cx="1554480" cy="640080"/>
          </a:xfrm>
          <a:prstGeom prst="rect">
            <a:avLst/>
          </a:prstGeom>
          <a:solidFill>
            <a:srgbClr val="E9724C">
              <a:alpha val="10000"/>
            </a:srgbClr>
          </a:solidFill>
          <a:ln w="12700">
            <a:solidFill>
              <a:srgbClr val="E9724C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4" name="Text 41"/>
          <p:cNvSpPr/>
          <p:nvPr/>
        </p:nvSpPr>
        <p:spPr>
          <a:xfrm>
            <a:off x="7178040" y="37856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24C"/>
                </a:solidFill>
              </a:rPr>
              <a:t>NULL ❌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7178040" y="40599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12529"/>
                </a:solidFill>
              </a:rPr>
              <a:t>Start level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365760" y="4700016"/>
            <a:ext cx="8119872" cy="299793"/>
          </a:xfrm>
          <a:prstGeom prst="rect">
            <a:avLst/>
          </a:prstGeom>
          <a:solidFill>
            <a:srgbClr val="E9724C"/>
          </a:solidFill>
          <a:ln w="12700">
            <a:solidFill>
              <a:srgbClr val="E9724C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7" name="Text 44"/>
          <p:cNvSpPr/>
          <p:nvPr/>
        </p:nvSpPr>
        <p:spPr>
          <a:xfrm>
            <a:off x="548640" y="47000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Key insight: CHARGELEVELSTART is NULL for ALL service rentals: agents have no start level recorded. This shaped our entire Task 2 methodology.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D2BD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What Problem Are We Solving?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9555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D2BD"/>
                </a:solidFill>
              </a:rPr>
              <a:t>A car is plugged in and charging. Two things are racing against each other: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87829" y="1344168"/>
            <a:ext cx="3213463" cy="14081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7" name="Text 4"/>
          <p:cNvSpPr/>
          <p:nvPr/>
        </p:nvSpPr>
        <p:spPr>
          <a:xfrm>
            <a:off x="365760" y="16002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Customer rents it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98448" y="2011680"/>
            <a:ext cx="17408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No agent needed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No overstay fees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Ideal outcome!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931920" y="1920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D2BD"/>
                </a:solidFill>
              </a:rPr>
              <a:t>VS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068388" y="1326969"/>
            <a:ext cx="3213464" cy="1408176"/>
          </a:xfrm>
          <a:prstGeom prst="rect">
            <a:avLst/>
          </a:prstGeom>
          <a:solidFill>
            <a:srgbClr val="E9724C"/>
          </a:solidFill>
          <a:ln w="12700">
            <a:solidFill>
              <a:srgbClr val="E972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1" name="Text 8"/>
          <p:cNvSpPr/>
          <p:nvPr/>
        </p:nvSpPr>
        <p:spPr>
          <a:xfrm>
            <a:off x="4937760" y="16002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Battery hits 100%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376672" y="1824228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Overstay fees start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Agent must move it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Costs money!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3008376"/>
            <a:ext cx="25820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D2BD"/>
                </a:solidFill>
              </a:rPr>
              <a:t>This creates two business questions: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3360420"/>
            <a:ext cx="3566160" cy="1069848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Text 12"/>
          <p:cNvSpPr/>
          <p:nvPr/>
        </p:nvSpPr>
        <p:spPr>
          <a:xfrm>
            <a:off x="548640" y="3602736"/>
            <a:ext cx="2490651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D2BD"/>
                </a:solidFill>
              </a:rPr>
              <a:t>Q1:  Operations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38862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How efficiently is the fleet operated? Where are the gaps in agent scheduling, battery management and fleet utilisation?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1999" y="3342132"/>
            <a:ext cx="4275909" cy="1106424"/>
          </a:xfrm>
          <a:prstGeom prst="rect">
            <a:avLst/>
          </a:prstGeom>
          <a:solidFill>
            <a:srgbClr val="E9724C"/>
          </a:solidFill>
          <a:ln w="12700">
            <a:solidFill>
              <a:srgbClr val="E972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8" name="Text 15"/>
          <p:cNvSpPr/>
          <p:nvPr/>
        </p:nvSpPr>
        <p:spPr>
          <a:xfrm>
            <a:off x="4754880" y="3602736"/>
            <a:ext cx="309154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Q2: The Threshold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648200" y="3795849"/>
            <a:ext cx="4084320" cy="652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At what battery level does the chance of a customer renting become too low, so we should send an agent instead?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4634920"/>
            <a:ext cx="8412480" cy="365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4D2BD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1" name="Text 18"/>
          <p:cNvSpPr/>
          <p:nvPr/>
        </p:nvSpPr>
        <p:spPr>
          <a:xfrm>
            <a:off x="548640" y="46725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D2BD"/>
                </a:solidFill>
              </a:rPr>
              <a:t>Every unnecessary agent dispatch costs money. Every overstay fee costs money. Finding the right threshold saves both.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94D2BD"/>
                </a:solidFill>
              </a:rPr>
              <a:t>EXPLORATORY DATA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613139" y="374904"/>
            <a:ext cx="591772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Key Findings at a Glance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572768"/>
            <a:ext cx="1920240" cy="301752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192024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Text 5"/>
          <p:cNvSpPr/>
          <p:nvPr/>
        </p:nvSpPr>
        <p:spPr>
          <a:xfrm>
            <a:off x="484632" y="173736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4D2BD"/>
                </a:solidFill>
              </a:rPr>
              <a:t>16 min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84632" y="2578608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Median rental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duration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3355848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</a:rPr>
              <a:t>Short urban trips,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</a:rPr>
              <a:t>not commutes</a:t>
            </a:r>
          </a:p>
          <a:p>
            <a:pPr marL="0" indent="0" algn="ctr">
              <a:buNone/>
            </a:pPr>
            <a:endParaRPr lang="en-US" sz="1000" dirty="0">
              <a:solidFill>
                <a:srgbClr val="94D2BD"/>
              </a:solidFill>
            </a:endParaRPr>
          </a:p>
          <a:p>
            <a:pPr algn="ctr"/>
            <a:r>
              <a:rPr lang="en-GB" sz="1000" i="1" dirty="0">
                <a:solidFill>
                  <a:schemeClr val="bg1">
                    <a:lumMod val="95000"/>
                  </a:schemeClr>
                </a:solidFill>
              </a:rPr>
              <a:t>shorter than a metro ride</a:t>
            </a:r>
            <a:endParaRPr lang="en-US" sz="10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14600" y="1572768"/>
            <a:ext cx="1920240" cy="301752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R" dirty="0"/>
          </a:p>
        </p:txBody>
      </p:sp>
      <p:sp>
        <p:nvSpPr>
          <p:cNvPr id="11" name="Shape 9"/>
          <p:cNvSpPr/>
          <p:nvPr/>
        </p:nvSpPr>
        <p:spPr>
          <a:xfrm>
            <a:off x="2514600" y="1572768"/>
            <a:ext cx="192024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Text 10"/>
          <p:cNvSpPr/>
          <p:nvPr/>
        </p:nvSpPr>
        <p:spPr>
          <a:xfrm>
            <a:off x="2587752" y="173736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4D2BD"/>
                </a:solidFill>
              </a:rPr>
              <a:t>85%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587752" y="2578608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Battery threshold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 dispatch 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87752" y="3355848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</a:rPr>
              <a:t>Tipping point: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</a:rPr>
              <a:t>48.4% agent moves</a:t>
            </a:r>
          </a:p>
          <a:p>
            <a:pPr marL="0" indent="0" algn="ctr">
              <a:buNone/>
            </a:pPr>
            <a:endParaRPr lang="en-US" sz="1000" dirty="0">
              <a:solidFill>
                <a:srgbClr val="94D2BD"/>
              </a:solidFill>
            </a:endParaRPr>
          </a:p>
          <a:p>
            <a:pPr algn="ctr"/>
            <a:r>
              <a:rPr lang="en-GB" sz="1000" i="1" dirty="0">
                <a:solidFill>
                  <a:schemeClr val="bg1">
                    <a:lumMod val="95000"/>
                  </a:schemeClr>
                </a:solidFill>
              </a:rPr>
              <a:t>our key recommendation</a:t>
            </a:r>
            <a:endParaRPr lang="en-US" sz="10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17720" y="1572768"/>
            <a:ext cx="1920240" cy="301752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6" name="Shape 14"/>
          <p:cNvSpPr/>
          <p:nvPr/>
        </p:nvSpPr>
        <p:spPr>
          <a:xfrm>
            <a:off x="4617720" y="1572768"/>
            <a:ext cx="192024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Text 15"/>
          <p:cNvSpPr/>
          <p:nvPr/>
        </p:nvSpPr>
        <p:spPr>
          <a:xfrm>
            <a:off x="4690872" y="173736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4D2BD"/>
                </a:solidFill>
              </a:rPr>
              <a:t>31.4%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690872" y="2578608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1 in 3 charging sessions need a second agent dispatch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90872" y="3355848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</a:rPr>
              <a:t>Direct operational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</a:rPr>
              <a:t>cost to reduce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1572768"/>
            <a:ext cx="1920240" cy="301752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1" name="Shape 19"/>
          <p:cNvSpPr/>
          <p:nvPr/>
        </p:nvSpPr>
        <p:spPr>
          <a:xfrm>
            <a:off x="6720840" y="1572768"/>
            <a:ext cx="192024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20"/>
          <p:cNvSpPr/>
          <p:nvPr/>
        </p:nvSpPr>
        <p:spPr>
          <a:xfrm>
            <a:off x="6793992" y="173736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4D2BD"/>
                </a:solidFill>
              </a:rPr>
              <a:t>7.6%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793992" y="2578608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Cars returned below 20% battery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93992" y="3355848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</a:rPr>
              <a:t>Urgent charging needed</a:t>
            </a:r>
          </a:p>
          <a:p>
            <a:pPr marL="0" indent="0" algn="ctr">
              <a:buNone/>
            </a:pPr>
            <a:endParaRPr lang="en-US" sz="1000" dirty="0">
              <a:solidFill>
                <a:srgbClr val="94D2BD"/>
              </a:solidFill>
            </a:endParaRPr>
          </a:p>
          <a:p>
            <a:pPr algn="ctr"/>
            <a:r>
              <a:rPr lang="en-GB" sz="1000" i="1" dirty="0">
                <a:solidFill>
                  <a:schemeClr val="bg1">
                    <a:lumMod val="95000"/>
                  </a:schemeClr>
                </a:solidFill>
              </a:rPr>
              <a:t>potential revenue loss</a:t>
            </a:r>
            <a:endParaRPr lang="en-US" sz="1000" i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A9396"/>
                </a:solidFill>
              </a:rPr>
              <a:t>QUESTION 1 : OPERATIONAL INSIGHTS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</a:rPr>
              <a:t>What can we say about operations?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109728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269748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484632" y="12618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  Usage Patterns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" y="1728216"/>
            <a:ext cx="2377440" cy="1869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</a:rPr>
              <a:t>Peak demand at 16h : afternoon, not morning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</a:rPr>
              <a:t>Friday &amp; Saturday busiest (+14% vs weekdays)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</a:rPr>
              <a:t>August drops 47% : Holiday effect</a:t>
            </a:r>
          </a:p>
          <a:p>
            <a:pPr marL="342900" indent="-342900">
              <a:spcAft>
                <a:spcPts val="500"/>
              </a:spcAft>
              <a:buSzPct val="100000"/>
              <a:buFontTx/>
              <a:buChar char="•"/>
            </a:pPr>
            <a:r>
              <a:rPr lang="en-GB" sz="1100" dirty="0"/>
              <a:t>808 sub-minute rentals (509 customer · 299 agent) : zero battery change → flagged, kept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584448"/>
            <a:ext cx="2478024" cy="1097280"/>
          </a:xfrm>
          <a:prstGeom prst="rect">
            <a:avLst/>
          </a:prstGeom>
          <a:solidFill>
            <a:srgbClr val="0A9396">
              <a:alpha val="12000"/>
            </a:srgbClr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Text 7"/>
          <p:cNvSpPr/>
          <p:nvPr/>
        </p:nvSpPr>
        <p:spPr>
          <a:xfrm>
            <a:off x="530352" y="36758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9396"/>
                </a:solidFill>
              </a:rPr>
              <a:t>💡 Recommendation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3931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</a:rPr>
              <a:t>Shift agent schedules to 13–17h &amp; increase weekend coverage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697480" cy="73152"/>
          </a:xfrm>
          <a:prstGeom prst="rect">
            <a:avLst/>
          </a:prstGeom>
          <a:solidFill>
            <a:srgbClr val="0A7E66"/>
          </a:solidFill>
          <a:ln w="12700">
            <a:solidFill>
              <a:srgbClr val="0A7E6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Text 11"/>
          <p:cNvSpPr/>
          <p:nvPr/>
        </p:nvSpPr>
        <p:spPr>
          <a:xfrm>
            <a:off x="3337560" y="12618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 Battery &amp; Charging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69164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</a:rPr>
              <a:t>Avg consumption only 7% per trip (16 min trips)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</a:rPr>
              <a:t>38.6% of customers plug in : helping fleet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</a:rPr>
              <a:t>6.6% of cars returned below 20%: urgent need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</a:rPr>
              <a:t>174 repeat charging missions:  inefficiency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10128" y="3584448"/>
            <a:ext cx="2478024" cy="1097280"/>
          </a:xfrm>
          <a:prstGeom prst="rect">
            <a:avLst/>
          </a:prstGeom>
          <a:solidFill>
            <a:srgbClr val="0A7E66">
              <a:alpha val="12000"/>
            </a:srgbClr>
          </a:solidFill>
          <a:ln w="12700">
            <a:solidFill>
              <a:srgbClr val="0A7E6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Text 14"/>
          <p:cNvSpPr/>
          <p:nvPr/>
        </p:nvSpPr>
        <p:spPr>
          <a:xfrm>
            <a:off x="3383280" y="36758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7E66"/>
                </a:solidFill>
              </a:rPr>
              <a:t>💡 Recommendation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3931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529"/>
                </a:solidFill>
              </a:rPr>
              <a:t>Alert system for cars returned &lt;20% + fix charger reliability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53328" y="109728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9" name="Shape 17"/>
          <p:cNvSpPr/>
          <p:nvPr/>
        </p:nvSpPr>
        <p:spPr>
          <a:xfrm>
            <a:off x="6053328" y="1097280"/>
            <a:ext cx="2697480" cy="73152"/>
          </a:xfrm>
          <a:prstGeom prst="rect">
            <a:avLst/>
          </a:prstGeom>
          <a:solidFill>
            <a:srgbClr val="E9724C"/>
          </a:solidFill>
          <a:ln w="12700">
            <a:solidFill>
              <a:srgbClr val="E9724C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0" name="Text 18"/>
          <p:cNvSpPr/>
          <p:nvPr/>
        </p:nvSpPr>
        <p:spPr>
          <a:xfrm>
            <a:off x="6190488" y="12618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 Agent Operations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90488" y="169164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</a:rPr>
              <a:t>Agents most active 7–10am (ratio 28–35%)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</a:rPr>
              <a:t>Almost no agents 15–18h (ratio 1–6%!)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</a:rPr>
              <a:t>Saturday lowest coverage (11.7%):  busiest day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</a:rPr>
              <a:t>1 vehicle inactive after Feb 2023 (dc753ee9)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63056" y="3584448"/>
            <a:ext cx="2478024" cy="1097280"/>
          </a:xfrm>
          <a:prstGeom prst="rect">
            <a:avLst/>
          </a:prstGeom>
          <a:solidFill>
            <a:srgbClr val="E9724C">
              <a:alpha val="12000"/>
            </a:srgbClr>
          </a:solidFill>
          <a:ln w="12700">
            <a:solidFill>
              <a:srgbClr val="E9724C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3" name="Text 21"/>
          <p:cNvSpPr/>
          <p:nvPr/>
        </p:nvSpPr>
        <p:spPr>
          <a:xfrm>
            <a:off x="6236208" y="36758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724C"/>
                </a:solidFill>
              </a:rPr>
              <a:t>💡 Recommendation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36208" y="3931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</a:rPr>
              <a:t>Critical misalignment : agents work mornings, customers peak afternoons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4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D2BD"/>
                </a:solidFill>
              </a:rPr>
              <a:t>QUESTION 2 — BATTERY THRESHOLD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When should we dispatch an agent to move a charging car</a:t>
            </a:r>
            <a:r>
              <a:rPr lang="en-US" sz="2400" b="1" dirty="0">
                <a:solidFill>
                  <a:srgbClr val="FFFFFF"/>
                </a:solidFill>
              </a:rPr>
              <a:t>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D2BD"/>
                </a:solidFill>
              </a:rPr>
              <a:t>A car is plugged in and charging - what happens next?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72618" y="1280160"/>
            <a:ext cx="4199382" cy="36804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R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1444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D2BD"/>
                </a:solidFill>
              </a:rPr>
              <a:t>Methodology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1828800"/>
            <a:ext cx="292608" cy="29260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Text 6"/>
          <p:cNvSpPr/>
          <p:nvPr/>
        </p:nvSpPr>
        <p:spPr>
          <a:xfrm>
            <a:off x="502920" y="184708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96112" y="1828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94D2BD"/>
                </a:solidFill>
              </a:rPr>
              <a:t>When does a charging session begin?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96112" y="208483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Identified 2,982 charging missions :every time an agent plugged a car in → clock starts ticking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292608" cy="29260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Text 10"/>
          <p:cNvSpPr/>
          <p:nvPr/>
        </p:nvSpPr>
        <p:spPr>
          <a:xfrm>
            <a:off x="502920" y="259689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96112" y="25786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94D2BD"/>
                </a:solidFill>
              </a:rPr>
              <a:t>What happened next for that vehicle?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96112" y="283464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Customer rented (48.8%)  or  Agent had to move it (31.4%) 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3328416"/>
            <a:ext cx="292608" cy="29260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Text 14"/>
          <p:cNvSpPr/>
          <p:nvPr/>
        </p:nvSpPr>
        <p:spPr>
          <a:xfrm>
            <a:off x="502920" y="334670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96112" y="33284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94D2BD"/>
                </a:solidFill>
              </a:rPr>
              <a:t>At what battery did each outcome happen?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96112" y="358444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Customer → CHARGELEVELSTART (exact)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Agent → CHARGELEVELEND (best estimate: median 12 min trip)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" y="4078224"/>
            <a:ext cx="292608" cy="29260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1" name="Text 18"/>
          <p:cNvSpPr/>
          <p:nvPr/>
        </p:nvSpPr>
        <p:spPr>
          <a:xfrm>
            <a:off x="502920" y="40965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96112" y="40782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94D2BD"/>
                </a:solidFill>
              </a:rPr>
              <a:t>Where do most decisions happen?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96112" y="433425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79% of events above 80% → refined to 5% buckets in 80-100% range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029200" y="978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D2BD"/>
                </a:solidFill>
              </a:rPr>
              <a:t>Results: 80–100% range (5% buckets)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322053"/>
              </p:ext>
            </p:extLst>
          </p:nvPr>
        </p:nvGraphicFramePr>
        <p:xfrm>
          <a:off x="4690872" y="1444752"/>
          <a:ext cx="4087368" cy="1932432"/>
        </p:xfrm>
        <a:graphic>
          <a:graphicData uri="http://schemas.openxmlformats.org/drawingml/2006/table">
            <a:tbl>
              <a:tblPr/>
              <a:tblGrid>
                <a:gridCol w="1335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Battery Level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Customer 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Agent 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</a:rPr>
                        <a:t>80-85%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7A5E"/>
                          </a:solidFill>
                        </a:rPr>
                        <a:t>61.0%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</a:rPr>
                        <a:t>39.0%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C757D"/>
                          </a:solidFill>
                        </a:rPr>
                        <a:t>105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85-90%  ← THRESHOLD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2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51.6%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2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48.4%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2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159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2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</a:rPr>
                        <a:t>90-95%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7A5E"/>
                          </a:solidFill>
                        </a:rPr>
                        <a:t>58.5%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</a:rPr>
                        <a:t>41.5%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C757D"/>
                          </a:solidFill>
                        </a:rPr>
                        <a:t>390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</a:rPr>
                        <a:t>95-100%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7A5E"/>
                          </a:solidFill>
                        </a:rPr>
                        <a:t>61.4%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</a:rPr>
                        <a:t>38.6%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C757D"/>
                          </a:solidFill>
                        </a:rPr>
                        <a:t>1,509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 23"/>
          <p:cNvSpPr/>
          <p:nvPr/>
        </p:nvSpPr>
        <p:spPr>
          <a:xfrm>
            <a:off x="5669280" y="35570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D2BD"/>
                </a:solidFill>
              </a:rPr>
              <a:t>Where is the tipping point?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454396" y="37398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Send agent at 85% battery 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5221224" y="4096512"/>
            <a:ext cx="3374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D2BD"/>
                </a:solidFill>
              </a:rPr>
              <a:t>Before the coin flip begins : 51.6% vs 48.4% at 85-90%</a:t>
            </a:r>
            <a:endParaRPr lang="en-US" sz="950" b="1" dirty="0"/>
          </a:p>
        </p:txBody>
      </p:sp>
      <p:sp>
        <p:nvSpPr>
          <p:cNvPr id="31" name="Text 27"/>
          <p:cNvSpPr/>
          <p:nvPr/>
        </p:nvSpPr>
        <p:spPr>
          <a:xfrm>
            <a:off x="5175504" y="4471416"/>
            <a:ext cx="369417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</a:rPr>
              <a:t>Charging rate: 33.4%/hr  →  car at 60% hits 85% in ~45 min  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A9396"/>
                </a:solidFill>
              </a:rPr>
              <a:t>LIMITATIONS &amp; NEXT STEPS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</a:rPr>
              <a:t>What we couldn't do and what data would unlock better insights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R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3931920" cy="73152"/>
          </a:xfrm>
          <a:prstGeom prst="rect">
            <a:avLst/>
          </a:prstGeom>
          <a:solidFill>
            <a:srgbClr val="E9724C"/>
          </a:solidFill>
          <a:ln w="12700">
            <a:solidFill>
              <a:srgbClr val="E9724C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  Current Limitations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190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9724C"/>
                </a:solidFill>
              </a:rPr>
              <a:t>No location data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</a:rPr>
              <a:t>Cannot identify high-demand zones or optimise car positioning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9724C"/>
                </a:solidFill>
              </a:rPr>
              <a:t>CHARGELEVELSTART missing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487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</a:rPr>
              <a:t>Agent pickup battery estimated via CHARGELEVELEND -  not exact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8529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9724C"/>
                </a:solidFill>
              </a:rPr>
              <a:t>Charging rate varies widely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0540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</a:rPr>
              <a:t>Std 28.6% - median used as estimate, individual chargers differ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4198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9724C"/>
                </a:solidFill>
              </a:rPr>
              <a:t>9 months only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6210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</a:rPr>
              <a:t>Seasonal patterns (especially Aug–Sep) incomplete for full-year view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39867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9724C"/>
                </a:solidFill>
              </a:rPr>
              <a:t>No customer data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4187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</a:rPr>
              <a:t>Cannot segment by user behaviour or identify repeat customers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1115568"/>
            <a:ext cx="420624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8" name="Shape 16"/>
          <p:cNvSpPr/>
          <p:nvPr/>
        </p:nvSpPr>
        <p:spPr>
          <a:xfrm>
            <a:off x="4572000" y="1115568"/>
            <a:ext cx="420624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9" name="Text 17"/>
          <p:cNvSpPr/>
          <p:nvPr/>
        </p:nvSpPr>
        <p:spPr>
          <a:xfrm>
            <a:off x="4754880" y="1261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D2BD"/>
                </a:solidFill>
              </a:rPr>
              <a:t>  If We Had More Data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17190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D2BD"/>
                </a:solidFill>
              </a:rPr>
              <a:t>GPS / Location data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Identify hotspots, optimise car placement, reduce repositioning cost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2286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D2BD"/>
                </a:solidFill>
              </a:rPr>
              <a:t>Individual charger data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2487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Precise charging speed per station, more accurate dispatch timing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28529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D2BD"/>
                </a:solidFill>
              </a:rPr>
              <a:t>Customer profiles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3054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Segment usage patterns, predict demand by user type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34198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D2BD"/>
                </a:solidFill>
              </a:rPr>
              <a:t>Full year data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3621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Validate seasonality, improve August/September recommendations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39867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D2BD"/>
                </a:solidFill>
              </a:rPr>
              <a:t>Pricing data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4187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Correlate rental duration with revenue, optimise pricing windows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3B964B-477F-2FB8-7D33-5C76EAE04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935" y="482600"/>
            <a:ext cx="6712129" cy="417829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1E53E3-C7A2-709B-7126-DE7951E63383}"/>
              </a:ext>
            </a:extLst>
          </p:cNvPr>
          <p:cNvSpPr txBox="1"/>
          <p:nvPr/>
        </p:nvSpPr>
        <p:spPr>
          <a:xfrm>
            <a:off x="234461" y="75806"/>
            <a:ext cx="3235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200" dirty="0"/>
              <a:t>Snapshots from Tableau</a:t>
            </a:r>
          </a:p>
        </p:txBody>
      </p:sp>
    </p:spTree>
    <p:extLst>
      <p:ext uri="{BB962C8B-B14F-4D97-AF65-F5344CB8AC3E}">
        <p14:creationId xmlns:p14="http://schemas.microsoft.com/office/powerpoint/2010/main" val="171833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0C9171-98D0-4709-ED0E-0818A036C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935" y="482600"/>
            <a:ext cx="6712129" cy="417829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6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1492</TotalTime>
  <Words>1157</Words>
  <Application>Microsoft Macintosh PowerPoint</Application>
  <PresentationFormat>On-screen Show (16:9)</PresentationFormat>
  <Paragraphs>232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Free2Move EDA — Internship Technical Task</dc:title>
  <dc:subject>PptxGenJS Presentation</dc:subject>
  <dc:creator>PptxGenJS</dc:creator>
  <cp:lastModifiedBy>THEODORE Mary Sheeba</cp:lastModifiedBy>
  <cp:revision>15</cp:revision>
  <dcterms:created xsi:type="dcterms:W3CDTF">2026-04-30T21:41:23Z</dcterms:created>
  <dcterms:modified xsi:type="dcterms:W3CDTF">2026-05-22T15:36:33Z</dcterms:modified>
</cp:coreProperties>
</file>